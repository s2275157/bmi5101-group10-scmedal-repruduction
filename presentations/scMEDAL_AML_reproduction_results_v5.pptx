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f35a574b774c9e" /><Relationship Type="http://schemas.openxmlformats.org/officeDocument/2006/relationships/extended-properties" Target="/docProps/app.xml" Id="R705162199e0d4776" /><Relationship Type="http://schemas.openxmlformats.org/officeDocument/2006/relationships/officeDocument" Target="/ppt/presentation.xml" Id="R5b2af59c61f94a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97ae036d04e8b"/>
  </p:sldMasterIdLst>
  <p:notesMasterIdLst>
    <p:notesMasterId xmlns:r="http://schemas.openxmlformats.org/officeDocument/2006/relationships" r:id="Rbab8480679914b06"/>
  </p:notesMasterIdLst>
  <p:sldIdLst>
    <p:sldId xmlns:r="http://schemas.openxmlformats.org/officeDocument/2006/relationships" id="256" r:id="Rf8d0773c55c1496e"/>
    <p:sldId xmlns:r="http://schemas.openxmlformats.org/officeDocument/2006/relationships" id="257" r:id="Rb3870e186ab44426"/>
    <p:sldId xmlns:r="http://schemas.openxmlformats.org/officeDocument/2006/relationships" id="258" r:id="Rd90f695ce0f44604"/>
    <p:sldId xmlns:r="http://schemas.openxmlformats.org/officeDocument/2006/relationships" id="259" r:id="R00784a5c4b864f2b"/>
    <p:sldId xmlns:r="http://schemas.openxmlformats.org/officeDocument/2006/relationships" id="260" r:id="R8345487465444b3c"/>
    <p:sldId xmlns:r="http://schemas.openxmlformats.org/officeDocument/2006/relationships" id="261" r:id="Rdfc4356ac2364f28"/>
    <p:sldId xmlns:r="http://schemas.openxmlformats.org/officeDocument/2006/relationships" id="262" r:id="Rb28194adc0614a15"/>
    <p:sldId xmlns:r="http://schemas.openxmlformats.org/officeDocument/2006/relationships" id="263" r:id="Rbc5d802efe724733"/>
    <p:sldId xmlns:r="http://schemas.openxmlformats.org/officeDocument/2006/relationships" id="264" r:id="R40093738b8ff4147"/>
    <p:sldId xmlns:r="http://schemas.openxmlformats.org/officeDocument/2006/relationships" id="265" r:id="Re9e05ad6521948ac"/>
    <p:sldId xmlns:r="http://schemas.openxmlformats.org/officeDocument/2006/relationships" id="266" r:id="Rfb80501b43dd4084"/>
    <p:sldId xmlns:r="http://schemas.openxmlformats.org/officeDocument/2006/relationships" id="267" r:id="R557c7f1a18b1497a"/>
    <p:sldId xmlns:r="http://schemas.openxmlformats.org/officeDocument/2006/relationships" id="268" r:id="R4da0c1f142cf41a2"/>
    <p:sldId xmlns:r="http://schemas.openxmlformats.org/officeDocument/2006/relationships" id="269" r:id="R8f14880a3dcd425b"/>
    <p:sldId xmlns:r="http://schemas.openxmlformats.org/officeDocument/2006/relationships" id="270" r:id="Rfc41a10c5cab4bc3"/>
    <p:sldId xmlns:r="http://schemas.openxmlformats.org/officeDocument/2006/relationships" id="271" r:id="Rd11af107c9fe483c"/>
    <p:sldId xmlns:r="http://schemas.openxmlformats.org/officeDocument/2006/relationships" id="272" r:id="R31799351c3c04b82"/>
    <p:sldId xmlns:r="http://schemas.openxmlformats.org/officeDocument/2006/relationships" id="273" r:id="R786cff790e264f93"/>
    <p:sldId xmlns:r="http://schemas.openxmlformats.org/officeDocument/2006/relationships" id="274" r:id="R2026ce42e7164af1"/>
    <p:sldId xmlns:r="http://schemas.openxmlformats.org/officeDocument/2006/relationships" id="275" r:id="R75beb2c42e734d6b"/>
    <p:sldId xmlns:r="http://schemas.openxmlformats.org/officeDocument/2006/relationships" id="276" r:id="R6f646852f5a4488f"/>
    <p:sldId xmlns:r="http://schemas.openxmlformats.org/officeDocument/2006/relationships" id="277" r:id="R9c06143a8fd94621"/>
    <p:sldId xmlns:r="http://schemas.openxmlformats.org/officeDocument/2006/relationships" id="278" r:id="R3c1a112e686b4e77"/>
    <p:sldId xmlns:r="http://schemas.openxmlformats.org/officeDocument/2006/relationships" id="279" r:id="R371748f3ef184d24"/>
    <p:sldId xmlns:r="http://schemas.openxmlformats.org/officeDocument/2006/relationships" id="280" r:id="R0418de399ef04505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26c942d780453f" /><Relationship Type="http://schemas.openxmlformats.org/officeDocument/2006/relationships/slideMaster" Target="/ppt/slideMasters/slideMaster1.xml" Id="Rbd197ae036d04e8b" /><Relationship Type="http://schemas.openxmlformats.org/officeDocument/2006/relationships/notesMaster" Target="/ppt/notesMasters/notesMaster1.xml" Id="Rbab8480679914b06" /><Relationship Type="http://schemas.openxmlformats.org/officeDocument/2006/relationships/presProps" Target="/ppt/presProps.xml" Id="Rf009d653e6c345eb" /><Relationship Type="http://schemas.openxmlformats.org/officeDocument/2006/relationships/viewProps" Target="/ppt/viewProps.xml" Id="R372a88efd4054ac1" /><Relationship Type="http://schemas.openxmlformats.org/officeDocument/2006/relationships/tableStyles" Target="/ppt/tableStyles.xml" Id="Rd24d795d06814f4f" /><Relationship Type="http://schemas.openxmlformats.org/officeDocument/2006/relationships/slide" Target="/ppt/slides/slide1.xml" Id="Rf8d0773c55c1496e" /><Relationship Type="http://schemas.openxmlformats.org/officeDocument/2006/relationships/slide" Target="/ppt/slides/slide2.xml" Id="Rb3870e186ab44426" /><Relationship Type="http://schemas.openxmlformats.org/officeDocument/2006/relationships/slide" Target="/ppt/slides/slide3.xml" Id="Rd90f695ce0f44604" /><Relationship Type="http://schemas.openxmlformats.org/officeDocument/2006/relationships/slide" Target="/ppt/slides/slide4.xml" Id="R00784a5c4b864f2b" /><Relationship Type="http://schemas.openxmlformats.org/officeDocument/2006/relationships/slide" Target="/ppt/slides/slide5.xml" Id="R8345487465444b3c" /><Relationship Type="http://schemas.openxmlformats.org/officeDocument/2006/relationships/slide" Target="/ppt/slides/slide6.xml" Id="Rdfc4356ac2364f28" /><Relationship Type="http://schemas.openxmlformats.org/officeDocument/2006/relationships/slide" Target="/ppt/slides/slide7.xml" Id="Rb28194adc0614a15" /><Relationship Type="http://schemas.openxmlformats.org/officeDocument/2006/relationships/slide" Target="/ppt/slides/slide8.xml" Id="Rbc5d802efe724733" /><Relationship Type="http://schemas.openxmlformats.org/officeDocument/2006/relationships/slide" Target="/ppt/slides/slide9.xml" Id="R40093738b8ff4147" /><Relationship Type="http://schemas.openxmlformats.org/officeDocument/2006/relationships/slide" Target="/ppt/slides/slide10.xml" Id="Re9e05ad6521948ac" /><Relationship Type="http://schemas.openxmlformats.org/officeDocument/2006/relationships/slide" Target="/ppt/slides/slide11.xml" Id="Rfb80501b43dd4084" /><Relationship Type="http://schemas.openxmlformats.org/officeDocument/2006/relationships/slide" Target="/ppt/slides/slide12.xml" Id="R557c7f1a18b1497a" /><Relationship Type="http://schemas.openxmlformats.org/officeDocument/2006/relationships/slide" Target="/ppt/slides/slide13.xml" Id="R4da0c1f142cf41a2" /><Relationship Type="http://schemas.openxmlformats.org/officeDocument/2006/relationships/slide" Target="/ppt/slides/slide14.xml" Id="R8f14880a3dcd425b" /><Relationship Type="http://schemas.openxmlformats.org/officeDocument/2006/relationships/slide" Target="/ppt/slides/slide15.xml" Id="Rfc41a10c5cab4bc3" /><Relationship Type="http://schemas.openxmlformats.org/officeDocument/2006/relationships/slide" Target="/ppt/slides/slide16.xml" Id="Rd11af107c9fe483c" /><Relationship Type="http://schemas.openxmlformats.org/officeDocument/2006/relationships/slide" Target="/ppt/slides/slide17.xml" Id="R31799351c3c04b82" /><Relationship Type="http://schemas.openxmlformats.org/officeDocument/2006/relationships/slide" Target="/ppt/slides/slide18.xml" Id="R786cff790e264f93" /><Relationship Type="http://schemas.openxmlformats.org/officeDocument/2006/relationships/slide" Target="/ppt/slides/slide19.xml" Id="R2026ce42e7164af1" /><Relationship Type="http://schemas.openxmlformats.org/officeDocument/2006/relationships/slide" Target="/ppt/slides/slide20.xml" Id="R75beb2c42e734d6b" /><Relationship Type="http://schemas.openxmlformats.org/officeDocument/2006/relationships/slide" Target="/ppt/slides/slide21.xml" Id="R6f646852f5a4488f" /><Relationship Type="http://schemas.openxmlformats.org/officeDocument/2006/relationships/slide" Target="/ppt/slides/slide22.xml" Id="R9c06143a8fd94621" /><Relationship Type="http://schemas.openxmlformats.org/officeDocument/2006/relationships/slide" Target="/ppt/slides/slide23.xml" Id="R3c1a112e686b4e77" /><Relationship Type="http://schemas.openxmlformats.org/officeDocument/2006/relationships/slide" Target="/ppt/slides/slide24.xml" Id="R371748f3ef184d24" /><Relationship Type="http://schemas.openxmlformats.org/officeDocument/2006/relationships/slide" Target="/ppt/slides/slide25.xml" Id="R0418de399ef045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95b5b34b13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a2a6e874484203" /><Relationship Type="http://schemas.openxmlformats.org/officeDocument/2006/relationships/notesMaster" Target="/ppt/notesMasters/notesMaster1.xml" Id="R796473a35dc54f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5b460c4b348c6" /><Relationship Type="http://schemas.openxmlformats.org/officeDocument/2006/relationships/notesMaster" Target="/ppt/notesMasters/notesMaster1.xml" Id="R0536160ce894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1ae2ef2e841ba" /><Relationship Type="http://schemas.openxmlformats.org/officeDocument/2006/relationships/notesMaster" Target="/ppt/notesMasters/notesMaster1.xml" Id="R74afb66d4108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78b0b5997a4c09" /><Relationship Type="http://schemas.openxmlformats.org/officeDocument/2006/relationships/notesMaster" Target="/ppt/notesMasters/notesMaster1.xml" Id="R3d0a722b932c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ba08651c44430" /><Relationship Type="http://schemas.openxmlformats.org/officeDocument/2006/relationships/notesMaster" Target="/ppt/notesMasters/notesMaster1.xml" Id="R2a03a570248c47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82bf775d1f49b3" /><Relationship Type="http://schemas.openxmlformats.org/officeDocument/2006/relationships/notesMaster" Target="/ppt/notesMasters/notesMaster1.xml" Id="Rac03264e5169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bdf8545b44e87" /><Relationship Type="http://schemas.openxmlformats.org/officeDocument/2006/relationships/notesMaster" Target="/ppt/notesMasters/notesMaster1.xml" Id="R79e7d048345b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d9329a5c147a5" /><Relationship Type="http://schemas.openxmlformats.org/officeDocument/2006/relationships/notesMaster" Target="/ppt/notesMasters/notesMaster1.xml" Id="R163645d421c44f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0335a2540e4cbd" /><Relationship Type="http://schemas.openxmlformats.org/officeDocument/2006/relationships/notesMaster" Target="/ppt/notesMasters/notesMaster1.xml" Id="R9126edbb4ba042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71335af81b4117" /><Relationship Type="http://schemas.openxmlformats.org/officeDocument/2006/relationships/notesMaster" Target="/ppt/notesMasters/notesMaster1.xml" Id="R5adf4e7d02544a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d133d5109749ca" /><Relationship Type="http://schemas.openxmlformats.org/officeDocument/2006/relationships/notesMaster" Target="/ppt/notesMasters/notesMaster1.xml" Id="Re4817e0f36744b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2fa35312a94713" /><Relationship Type="http://schemas.openxmlformats.org/officeDocument/2006/relationships/notesMaster" Target="/ppt/notesMasters/notesMaster1.xml" Id="R245015e903f945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5556349b744b07" /><Relationship Type="http://schemas.openxmlformats.org/officeDocument/2006/relationships/notesMaster" Target="/ppt/notesMasters/notesMaster1.xml" Id="R7ed63e3bad8b46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4f5d608e9d4f0f" /><Relationship Type="http://schemas.openxmlformats.org/officeDocument/2006/relationships/notesMaster" Target="/ppt/notesMasters/notesMaster1.xml" Id="R27d6c02a3fc341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1faadcc1d5480d" /><Relationship Type="http://schemas.openxmlformats.org/officeDocument/2006/relationships/notesMaster" Target="/ppt/notesMasters/notesMaster1.xml" Id="R5fa1422960604c5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0d8d2afe8d40aa" /><Relationship Type="http://schemas.openxmlformats.org/officeDocument/2006/relationships/notesMaster" Target="/ppt/notesMasters/notesMaster1.xml" Id="R3e301548a55c4b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3ad07efdf34f18" /><Relationship Type="http://schemas.openxmlformats.org/officeDocument/2006/relationships/notesMaster" Target="/ppt/notesMasters/notesMaster1.xml" Id="Rfcd8bad8bbe04c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54f4c100ce4e82" /><Relationship Type="http://schemas.openxmlformats.org/officeDocument/2006/relationships/notesMaster" Target="/ppt/notesMasters/notesMaster1.xml" Id="R7a5d229f50c149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0ece1102184246" /><Relationship Type="http://schemas.openxmlformats.org/officeDocument/2006/relationships/notesMaster" Target="/ppt/notesMasters/notesMaster1.xml" Id="Rdf32f028042944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90c681cb7d4483" /><Relationship Type="http://schemas.openxmlformats.org/officeDocument/2006/relationships/notesMaster" Target="/ppt/notesMasters/notesMaster1.xml" Id="Rbca0eb2eda4447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2c7ddbc9a74709" /><Relationship Type="http://schemas.openxmlformats.org/officeDocument/2006/relationships/notesMaster" Target="/ppt/notesMasters/notesMaster1.xml" Id="R4297616cec714b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c84a5c881b4a52" /><Relationship Type="http://schemas.openxmlformats.org/officeDocument/2006/relationships/notesMaster" Target="/ppt/notesMasters/notesMaster1.xml" Id="R71c4a090b0464f5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54abf56e7c458d" /><Relationship Type="http://schemas.openxmlformats.org/officeDocument/2006/relationships/notesMaster" Target="/ppt/notesMasters/notesMaster1.xml" Id="R37b48cf541604a7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b011bf1ea0e479e" /><Relationship Type="http://schemas.openxmlformats.org/officeDocument/2006/relationships/notesMaster" Target="/ppt/notesMasters/notesMaster1.xml" Id="Rd8f71e15de3c48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ee7ef614154c9f" /><Relationship Type="http://schemas.openxmlformats.org/officeDocument/2006/relationships/notesMaster" Target="/ppt/notesMasters/notesMaster1.xml" Id="Rb833ad4af069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开场：我们复现的是 Andrade 等人的 scMEDAL，并没有提出新的架构。本次展示聚焦作者预处理好的 AML 数据，以及我们完成的六种方法五折实验。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解释：单细胞 RNA-seq 每个点是一个细胞，基因表达会受到细胞状态，也会受到 donor、样本制备等因素影响。AML 数据中，donor 与疾病状态可能相关，不能简单把所有 donor 差异都视为纯技术噪声。每条英文陈述后都列出来源。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这里只选三种有代表性、也是我们 AML 实验中实际比较的方法：Harmony 在 PCA 空间迭代校正，Scanorama 用跨数据集相似细胞匹配，scVI 用概率生成模型。scANVI 是使用细胞标签的额外比较方法，留到实验结果页介绍。已有方法不是完全消除所有 batch 信息；其目标是得到更适合比较细胞状态的整合表征。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这一页从已有整合方法的目标转向 scMEDAL 的核心问题。左侧是需要压低的技术差异，右侧是 AML 中可能和 donor/batch 一起变化的生物信息。对于同一个 donor 只对应一个患者分组的情形，仅凭整合图无法判定差异的技术或疾病来源。这个风险是动机，并不是声称我们已证明每种 baseline 在 AML 都过度校正。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先用直觉讲：一份细胞表达中，既有跨 batch 共有的细胞状态，也有与 donor/batch 相关的偏移。后者可能同时包含技术因素和生物差异。这里的分解是说明思想，不是 scMEDAL 的精确生成方程。传统线性 mixed-effects model 联合估计 fixed/random effects；scMEDAL 借鉴这个视角，但 FE 和 RE 神经网络分别训练，之后才把表征结合用于预测。原文 Methods 明确说明 scMEDAL 不是形式意义上的传统 LME。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这页的关键：FE 和 RE 是分别训练的两个自编码器。FE 尽量保留与 batch 无关的细胞状态，RE 显式保留 donor/batch 结构。它们的 embedding 可以在后续预测任务拼接，但我们的汇报目前主要评价各自的 latent 表征与反事实重建。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MSE 衡量重建表达与输入的误差。CE 是 batch 分类的交叉熵：adversary 希望准确预测 batch，FE encoder 则希望让这一预测困难。RE 的 batch 分类项方向为正，鼓励表征保留 batch 信息。KL 约束随机权重的近似后验 q(U) 与先验 p(U) 的差异。这些式子是汇报用的简化记号。来源：https://www.nature.com/articles/s41467-026-72666-4 ，Methods Eqs. 2 and 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我们使用作者预处理好的 AML split，不复现 FASTQ 比对或 upstream QC。相同五个 split 用于六种方法，模型输出保存在 NSCC ASPIRE 2A；这里只报告验证过的 formal runs。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ASW（average silhouette width）衡量同标签细胞在 latent space 的可分离程度。对于 cell type，越高一般越好；对于 batch-correction embedding，我们看 batch 可分离度是否降低。RE 目标恰好是捕获 batch，所以不能把它当成 correction method 排名。scANVI 使用细胞类型标签，因此是 label-informed baseline。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这张图直接来自我们统一汇总的五折 held-out test 结果。点是五折均值，误差线是 t 分布 95% CI。右侧 scANVI 使用标签，所以高 cell-type ASW 不能和无标签方法解释为完全同条件优越。左侧 RE 高 batch ASW 是有意设计。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表格给出精确五折均值和样本标准差，避免只凭 UMAP 读数。FE cell-type ASW 高于 Harmony、Scanorama 和 scVI；scANVI 高得多，但其训练使用细胞类型标签。RE 的 batch ASW 高，符合 batch-specific 目标。这里不声称 FE 在所有指标上最好。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 panel 都来自 fold 1 的 train split；每点一个细胞，同色代表同一个 batch。FE 中部分颜色混合，RE 中大量批次形成明显单色岛。UMAP 只作定性补充；两个坐标系各自拟合，不应比较点到点坐标或岛之间距离。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这里重绘已有的 fold-1 train UMAP 坐标，没有重新拟合 UMAP。两幅图包含相同细胞，颜色代表原有 cell-type 注释。FE 的 T/NK/Plasma 等局部结构仍可见；RE 将部分相同细胞类型分布在不同 donor 岛上，符合 batch-specific 表征目的。整体 cell-type ASW 仍不高，不能仅根据漂亮的 UMAP 宣称完全保留生物信号。来源：results/presentation/figure_manifest.json 和 results/metrics/test_metrics_long.csv。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颜色为 AML、control 和 cellline。RE 表征中患者分组形成局部结构，与按 donor 着色的结果一致。但这里 patient group 与 donor 身份相关联，分组清晰不能独立证明疾病原因。FE 和 RE 的坐标各自拟合，不能比较图之间的点坐标或距离。来源：results/presentation/figure_manifest.json；作者论文 Fig. 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操作是固定一个细胞的 RE latent，替换输入的 donor/batch one-hot label，让 decoder 重建基因表达。比较不同 donor 条件下模型生成的表达。这个结果是模型的假设性 as-if simulation；不能据此推断改变 donor 会因果性地改变该细胞。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这一页是已完成的五折 Mono/Mono-like source-cell 分析。横轴是模型预测的 target AML donor 平均值减 target control donor 平均值；点为五折平均，线为五折标准差。选的四个基因用于说明读图，不是验证的生物标志物。Target donors 在各折重复出现，五折不是五个独立 donor cohort。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热图展示六个例子，不是按显著性选出的 marker。每列为一个 held-out source-cell fold；每个 fold 使用相同的 target donors。颜色和数字为 target AML donor 平均表达减 control donor 平均表达。SAMSN1、TXNIP、FTL、HIST1H1D 在五折中方向一致，CENPE 和 SRGN 只有四折同方向。216 个基因在五折方向一致描述了模型结果稳定性；fold 1 的 BH-FDR 检验没有低于 0.05 的基因。来源：results/counterfactual/fivefold_mono_monolike/aml_counterfactual_fivefold_gene_stability.csv。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每个点是一种 target donor/batch 条件下的模型预测表达，按五个 source-cell/model folds 取均值，误差线为折间 SD。这里 AML/control 的组均值并不代表每个 donor 都一致。BM5 的预测值较高。逐一排除 control donor 的已有分析显示，SAMSN1 的负向差异在每次排除后都保留；排除 BM5 后，均值差异由 −0.0713 变为 −0.0565，说明幅度仍对 donor 选择敏感。来源：samsn1_donor_summary.csv 与 selected_control_donor_sensitivity.csv。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这页把数值和原论文的预期放在一起解释。FE 的 cell-type ASW 高于几个无标签 baseline，但绝对值仍较低，batch 结构也残留。RE 的目标为 donor/batch 结构，因此不按去 batch 的目标给 RE 排名。scANVI 用了 cell-type labels。作者强调 RE 可补充其他表征用于预测；本次已完成的结果支持不同表征模式，预测层面的互补收益还需要 FE 与 FE+RE 的分类比较。Raw batch ASW 是当前记录的标签分离指标，受群体组成影响，结果不能等同于所有混合指标的综合排名。来源：results/metrics/test_metrics_long.csv；https://www.nature.com/articles/s41467-026-72666-4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数据范围是一个作者预处理的 AML 数据集。既有五折为细胞层面划分，相同 donor 在训练、验证、测试中重复，因此结果描述这些 donor 上的细胞泛化，而非新 donor 泛化。反事实分析同样重复使用 target donors，折间 SD 表示模型/细胞折波动。Fold 1 的 donor 级检验没有 FDR&lt;0.05 的基因。下一步可用第二个数据集或 donor-held-out 验证，并另外检验 FE+RE 预测收益。FE 权重敏感性作为未来实验，当前展示只使用已完成的原始参数结果。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结论围绕已经完成的内容：正式训练了 FE/RE 和四种 baseline，得到同一 AML 数据上的五折评估；FE 和 RE 展现不同的标签结构；重建结果提供了 donor 条件下的模型表达与稳定性信息。FE+RE 的预测收益仍是需要另外检验的问题，当前结论聚焦表征差异与探索性重建。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代码和小型结果已公开。PPT 中用到的主图位于 results/presentation，完整五折 ASW 与反事实结果表保存在原有 results 子目录。论文作者的代码与预处理数据来源在 README 中链接。当前仓库保存的是执行记录、评估和重绘脚本，正式训练入口使用作者仓库。原始细胞表达、完整 per-cell 坐标和模型权重保留在本地/NSCC。公开网址：https://github.com/s2275157/BMI5101-group10-scMEDAL-repruduction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列出模型、数据集与四种比较方法的原始论文。自己的结果来源是现有 CSV、UMAP 与 counterfactual 汇总；在正式版中可再添加 GitHub commit 和日期。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正式实验的超参数由 canonical run 名称与 manifest 记录。表中列出可以核对的字段，不补写没有归档的训练 seed 或环境参数。UMAP 使用已经保存的坐标，不重新拟合。scMEDAL 的训练环境与 baseline 分开，版本来自仓库 environment 和 README。此页用于 Q&amp;A 与复现说明。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Townsend 等 2024 主要评估 scRNA-seq 与 GWAS 结合识别炎症疾病细胞状态，和批次整合是不同问题。他们对 RA 滑膜和 UC 结肠 scRNA-seq 图谱先按 sample 用 Harmony 整合，再比较 scDRS、scGWAS、scPagwas。scDRS 还容纳细胞层面的协变量；论文在其数据上观察到比 scPagwas 较少的健康状态相关评分偏差。对 AML 项目的启发是，在 donor 与疾病组可能重合时，检查细胞亚群、患者层面的病理信号，并在后续分析中做 donor-aware 验证。当前项目没有运行 GWAS/scDRS，也没有据此建立因果结论。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291d36e8d4f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8a0cbc04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e4e09452345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024b70a1c40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d5278588444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90a87f38f4f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8AD309-5651-4F8A-9712-197CEF145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B75875-5909-4F31-8C8A-BF464CC7AD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458E1A-FA2B-41ED-A7FF-9652CB91C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272118-3411-45B7-B643-67801651F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0802AE-B44A-4ECC-A482-9E1F4F1DA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C55BED-0666-4EBF-A01A-014E8D4DC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4A6455-12BC-4CBF-AA46-E32CA90C40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068F21-32B9-424D-A986-CE00B438EB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8A048F-5351-4EE0-A0A2-2D9D8160F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BE4304-7BE3-43FC-876B-CBF75767AF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4b4e6e89384500" /><Relationship Type="http://schemas.openxmlformats.org/officeDocument/2006/relationships/slideLayout" Target="/ppt/slideLayouts/slideLayout1.xml" Id="R4f1b562f00884187" /><Relationship Type="http://schemas.openxmlformats.org/officeDocument/2006/relationships/slideLayout" Target="/ppt/slideLayouts/slideLayout2.xml" Id="R7757622a81d24a9f" /><Relationship Type="http://schemas.openxmlformats.org/officeDocument/2006/relationships/slideLayout" Target="/ppt/slideLayouts/slideLayout3.xml" Id="Rf6e6736dde1a45b5" /><Relationship Type="http://schemas.openxmlformats.org/officeDocument/2006/relationships/slideLayout" Target="/ppt/slideLayouts/slideLayout4.xml" Id="R55af058e755c41b0" /><Relationship Type="http://schemas.openxmlformats.org/officeDocument/2006/relationships/slideLayout" Target="/ppt/slideLayouts/slideLayout5.xml" Id="R6a5504c6b24a4d56" /><Relationship Type="http://schemas.openxmlformats.org/officeDocument/2006/relationships/slideLayout" Target="/ppt/slideLayouts/slideLayout6.xml" Id="Rb20e2948dc1d44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1b562f00884187"/>
    <p:sldLayoutId xmlns:r="http://schemas.openxmlformats.org/officeDocument/2006/relationships" id="2147483650" r:id="R7757622a81d24a9f"/>
    <p:sldLayoutId xmlns:r="http://schemas.openxmlformats.org/officeDocument/2006/relationships" id="2147483651" r:id="Rf6e6736dde1a45b5"/>
    <p:sldLayoutId xmlns:r="http://schemas.openxmlformats.org/officeDocument/2006/relationships" id="2147483652" r:id="R55af058e755c41b0"/>
    <p:sldLayoutId xmlns:r="http://schemas.openxmlformats.org/officeDocument/2006/relationships" id="2147483653" r:id="R6a5504c6b24a4d56"/>
    <p:sldLayoutId xmlns:r="http://schemas.openxmlformats.org/officeDocument/2006/relationships" id="2147483654" r:id="Rb20e2948dc1d44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efffdd7514a15" /><Relationship Type="http://schemas.openxmlformats.org/officeDocument/2006/relationships/notesSlide" Target="/ppt/notesSlides/notesSlide1.xml" Id="R2a167a39777c47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1dcd9078f4e35" /><Relationship Type="http://schemas.openxmlformats.org/officeDocument/2006/relationships/notesSlide" Target="/ppt/notesSlides/notesSlide2.xml" Id="Rb34aecf7d0e5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6f652eacd47c0" /><Relationship Type="http://schemas.openxmlformats.org/officeDocument/2006/relationships/notesSlide" Target="/ppt/notesSlides/notesSlide3.xml" Id="Rc133f1697f9f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4f61958774aba" /><Relationship Type="http://schemas.openxmlformats.org/officeDocument/2006/relationships/notesSlide" Target="/ppt/notesSlides/notesSlide4.xml" Id="Rf301cddf7f9b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a5694d58949a9" /><Relationship Type="http://schemas.openxmlformats.org/officeDocument/2006/relationships/notesSlide" Target="/ppt/notesSlides/notesSlide5.xml" Id="R295133882626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18b1642754d47" /><Relationship Type="http://schemas.openxmlformats.org/officeDocument/2006/relationships/notesSlide" Target="/ppt/notesSlides/notesSlide6.xml" Id="R8f51494448614a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f7fe29b264371" /><Relationship Type="http://schemas.openxmlformats.org/officeDocument/2006/relationships/notesSlide" Target="/ppt/notesSlides/notesSlide7.xml" Id="Re02c19d780f141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cc218170574260" /><Relationship Type="http://schemas.openxmlformats.org/officeDocument/2006/relationships/notesSlide" Target="/ppt/notesSlides/notesSlide8.xml" Id="R5afc7119fed940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6af3e58e74522" /><Relationship Type="http://schemas.openxmlformats.org/officeDocument/2006/relationships/notesSlide" Target="/ppt/notesSlides/notesSlide9.xml" Id="R3ea44c83983a46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3f693240445d5" /><Relationship Type="http://schemas.openxmlformats.org/officeDocument/2006/relationships/image" Target="/ppt/media/image.png" Id="R372965af5b33432b" /><Relationship Type="http://schemas.openxmlformats.org/officeDocument/2006/relationships/notesSlide" Target="/ppt/notesSlides/notesSlide10.xml" Id="Rb100061d4ed446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f666c782941f8" /><Relationship Type="http://schemas.openxmlformats.org/officeDocument/2006/relationships/notesSlide" Target="/ppt/notesSlides/notesSlide11.xml" Id="R9d3cf4bb669848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2eb5fce934312" /><Relationship Type="http://schemas.openxmlformats.org/officeDocument/2006/relationships/image" Target="/ppt/media/image2.png" Id="R830121b709f94768" /><Relationship Type="http://schemas.openxmlformats.org/officeDocument/2006/relationships/image" Target="/ppt/media/image3.png" Id="R99268c6c3b554870" /><Relationship Type="http://schemas.openxmlformats.org/officeDocument/2006/relationships/notesSlide" Target="/ppt/notesSlides/notesSlide12.xml" Id="Rc588a50ea23644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796f2af064e37" /><Relationship Type="http://schemas.openxmlformats.org/officeDocument/2006/relationships/image" Target="/ppt/media/image4.png" Id="Rf03fa9090f81401f" /><Relationship Type="http://schemas.openxmlformats.org/officeDocument/2006/relationships/notesSlide" Target="/ppt/notesSlides/notesSlide13.xml" Id="R87ef52eb00a34b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e6dffb42c4b16" /><Relationship Type="http://schemas.openxmlformats.org/officeDocument/2006/relationships/image" Target="/ppt/media/image5.png" Id="Rbfcebde6aa3449dd" /><Relationship Type="http://schemas.openxmlformats.org/officeDocument/2006/relationships/notesSlide" Target="/ppt/notesSlides/notesSlide14.xml" Id="Rfcabd84ccb0242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8eeb990624d07" /><Relationship Type="http://schemas.openxmlformats.org/officeDocument/2006/relationships/notesSlide" Target="/ppt/notesSlides/notesSlide15.xml" Id="R986ec349b6b94e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c2961f117439d" /><Relationship Type="http://schemas.openxmlformats.org/officeDocument/2006/relationships/notesSlide" Target="/ppt/notesSlides/notesSlide16.xml" Id="R03d9c9f1af3d47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c610e6f524899" /><Relationship Type="http://schemas.openxmlformats.org/officeDocument/2006/relationships/image" Target="/ppt/media/image6.png" Id="R5a7c89d3ce1b4be6" /><Relationship Type="http://schemas.openxmlformats.org/officeDocument/2006/relationships/notesSlide" Target="/ppt/notesSlides/notesSlide17.xml" Id="Rae4cac87621f4b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13f0b8f8b4deb" /><Relationship Type="http://schemas.openxmlformats.org/officeDocument/2006/relationships/image" Target="/ppt/media/image7.png" Id="Rf7f9eadad74148f5" /><Relationship Type="http://schemas.openxmlformats.org/officeDocument/2006/relationships/notesSlide" Target="/ppt/notesSlides/notesSlide18.xml" Id="R274ba943140645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7b3f81e52f4c5c" /><Relationship Type="http://schemas.openxmlformats.org/officeDocument/2006/relationships/notesSlide" Target="/ppt/notesSlides/notesSlide19.xml" Id="Rc94b2578f7a84e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5420916904ac2" /><Relationship Type="http://schemas.openxmlformats.org/officeDocument/2006/relationships/notesSlide" Target="/ppt/notesSlides/notesSlide20.xml" Id="Rdd84eb3baf6c46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e9d6691104220" /><Relationship Type="http://schemas.openxmlformats.org/officeDocument/2006/relationships/notesSlide" Target="/ppt/notesSlides/notesSlide21.xml" Id="Rccf59c6a231e4c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43b6aa28ec4043" /><Relationship Type="http://schemas.openxmlformats.org/officeDocument/2006/relationships/notesSlide" Target="/ppt/notesSlides/notesSlide22.xml" Id="R8fb72844e61c45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de563a0d214dc3" /><Relationship Type="http://schemas.openxmlformats.org/officeDocument/2006/relationships/notesSlide" Target="/ppt/notesSlides/notesSlide23.xml" Id="R559f45a474c24a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a8ee2616e4864" /><Relationship Type="http://schemas.openxmlformats.org/officeDocument/2006/relationships/notesSlide" Target="/ppt/notesSlides/notesSlide24.xml" Id="Rb6e999fc2d1142b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aaec474964a36" /><Relationship Type="http://schemas.openxmlformats.org/officeDocument/2006/relationships/notesSlide" Target="/ppt/notesSlides/notesSlide25.xml" Id="Ree54bfa41098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37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36920D-1C34-4817-9819-DC33DED0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998E722-6A6B-4F57-9BC3-7D39CF33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8DD7D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8DD7D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D7D9"/>
                </a:solidFill>
                <a:latin typeface="Aptos"/>
                <a:ea typeface="Aptos"/>
                <a:cs typeface="Aptos"/>
              </a:rPr>
              <a:t>BMI5101 GROUP 10</a:t>
            </a:r>
            <a:endParaRPr sz="1125" b="1">
              <a:solidFill>
                <a:srgbClr val="8DD7D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2B7C87D-894D-4FF6-A45D-AB9003AA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809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Reproducing scMEDAL for</a:t>
            </a:r>
            <a:endParaRPr sz="3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batch-aware single-cell</a:t>
            </a:r>
            <a:endParaRPr sz="3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analysis in AML</a:t>
            </a:r>
            <a:endParaRPr sz="38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CD2C027-3CF1-4277-B9D6-CFD9DDD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D9EAF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9EAF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EAF4"/>
                </a:solidFill>
                <a:latin typeface="Aptos"/>
                <a:ea typeface="Aptos"/>
                <a:cs typeface="Aptos"/>
              </a:rPr>
              <a:t>Five-fold evaluation of fixed and random effects, benchmark methods, and model-generated donor projections</a:t>
            </a:r>
            <a:endParaRPr sz="1725" b="0">
              <a:solidFill>
                <a:srgbClr val="D9EA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37FC0F3-7CA0-4669-94E5-0513CDD9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72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0FBE065-155C-4882-AAD7-DEE7A41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9EAF4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D9EA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EAF4"/>
                </a:solidFill>
                <a:latin typeface="Aptos"/>
                <a:ea typeface="Aptos"/>
                <a:cs typeface="Aptos"/>
              </a:rPr>
              <a:t>Presentation version 5  |  12 October 2026</a:t>
            </a:r>
            <a:endParaRPr sz="1275" b="0">
              <a:solidFill>
                <a:srgbClr val="D9EAF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2037E0-05BD-43B6-AA23-DB2356C8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5" b="0">
                <a:solidFill>
                  <a:srgbClr val="AFC9D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9DC"/>
                </a:solidFill>
                <a:latin typeface="Aptos"/>
                <a:ea typeface="Aptos"/>
                <a:cs typeface="Aptos"/>
              </a:rPr>
              <a:t>Source model: Andrade et al., Nature Communications (2026) [1]</a:t>
            </a:r>
            <a:endParaRPr sz="975" b="0">
              <a:solidFill>
                <a:srgbClr val="AFC9D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49501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464CFAE-1FA1-42FF-A60B-294FC192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A53068-518D-45D9-A0D0-C440A43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INTRODUCTION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3C5BFDA-08D8-49D5-9EF3-1EAE71C7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Why batch-aware modeling matters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44E06B2-614B-4C2C-950A-D2679E67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41DFA4-1188-46C9-B12D-13E7ED48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B71B22-A0C7-401C-89A7-DC8FD19D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02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0C56D603-429F-4BD5-A34B-AB2188F4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0482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AFC06B9-5EA2-45A3-B6F1-F31E065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56578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4482492-7E24-4131-A474-23A9133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6A31DF1-E6FA-4215-A56E-E9E9F82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THE DATA</a:t>
            </a:r>
            <a:endParaRPr sz="11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7F64E4-FE0A-43E7-8D4C-E8A0B52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Single-cell RNA-seq measures thousands of genes in individual cells. [2]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CFB048A-C534-4DC5-A78B-2D739AAD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Processing and donor differences can shift expression independently of cell identity. [1,2]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A3F4CBB-1ECA-4CDC-8199-F5CCABC3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BFC262E-85F3-4619-A548-8DA377F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THE CHALLENGE</a:t>
            </a:r>
            <a:endParaRPr sz="1125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0A5AA9D-6A91-42B5-93ED-57A30EFA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5000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AML profiles include malignant cells, normal cells, and multiple donors. [1,3]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A6A6BE9-877D-4D17-B368-FA13E84E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09950"/>
            <a:ext cx="5000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When patient group aligns with donor, aggressive integration may hide biologically useful variation. [1]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5A7C665-02AA-498D-AD63-F7987A24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  [2] Tung et al. (2017)  [3] van Galen et al. (2019)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37123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21773C2-B3A4-4603-B9A4-AD75511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4B6B81-27E9-4137-95DB-6C315283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INTRODUCTION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941A5B-BD53-4965-89AA-0FF03C67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How existing methods integrate batches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25706F9-A3C9-4831-9A07-E083C8BC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FC1417-0A9B-45A0-A6AA-176E2A01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BDCDF1F-331D-4741-BDE3-DE1C09E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03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7528B5C6-7B56-4AD7-857C-22A374C9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38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5025AD-309A-4C7B-B07B-F1E22A7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Harmony</a:t>
            </a:r>
            <a:endParaRPr sz="17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EC414A5-13D0-409F-9999-58E1A5F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Iteratively adjusts a PCA embedding across batches. [4]</a:t>
            </a:r>
            <a:endParaRPr sz="14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0687E55-20EB-43B5-8386-7A8F13A3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38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FE8E767-63B5-4EF7-83A0-7DCA656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Scanorama</a:t>
            </a:r>
            <a:endParaRPr sz="17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3C8F769-7354-410C-A628-87B9057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861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Matches similar cells across datasets. [5]</a:t>
            </a:r>
            <a:endParaRPr sz="14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DAF1536D-01B1-422F-86F7-75D8698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381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3035B-C1D8-4CC9-BE13-132F8548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scVI</a:t>
            </a:r>
            <a:endParaRPr sz="17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3988821-4311-495D-95A2-27B43DAB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62425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Learns a probabilistic latent representation with batch covariates. [6]</a:t>
            </a:r>
            <a:endParaRPr sz="14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1857DA4B-A383-47BC-8FF7-3779E55E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47850"/>
            <a:ext cx="5229225" cy="3019425"/>
          </a:xfrm>
          <a:prstGeom xmlns:a="http://schemas.openxmlformats.org/drawingml/2006/main" prst="roundRect">
            <a:avLst>
              <a:gd name="adj" fmla="val 2524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9525">
            <a:solidFill>
              <a:srgbClr val="C4E4E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EDF967E-1FD7-4991-9F49-B032AD52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762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7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C4D49B-6EEB-4C14-914A-BBE629EA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11686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168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686E"/>
                </a:solidFill>
                <a:latin typeface="Aptos"/>
                <a:ea typeface="Aptos"/>
                <a:cs typeface="Aptos"/>
              </a:rPr>
              <a:t>SHARED AIM</a:t>
            </a:r>
            <a:endParaRPr sz="1125" b="1">
              <a:solidFill>
                <a:srgbClr val="1168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067C1F3-BFDD-4BB0-95E7-012304F2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Reduce unwanted separation between comparable cells from different batches. [1,4–6]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E429CC9-30BC-4E65-B2F2-32C35EAF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572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Then check whether cell-type structure remains intact. [1]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0073539-CCD6-4A13-B2D5-3A5398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  [4] Korsunsky et al. (2019)  [5] Hie et al. (2019)  [6] Lopez et al. (2018)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82074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71A47E6-45EB-418C-9A0D-E2108DDD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C53FC1A-959C-4EB2-A54A-AE0C158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INTRODUCTION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4810C45-C2B3-4377-866C-44F9DFAF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What batch correction may hide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116933E-5418-415F-944C-B9E83B38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618BC2A-A447-4DFE-A0C8-6C5E1BDC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5730D89-22E4-4E95-B617-C3849482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04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7057EB33-C2D5-4397-AC41-08E4C7B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197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B8D9EA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673E6FF-4B3E-4BA5-814C-C32D186C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43075"/>
            <a:ext cx="54864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3D5BC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BEDE1FCA-7CF0-4B6B-9AB0-C7977F2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114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3AA8A92-BEC2-4349-8BCB-4DA61AE7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1885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USEFUL CORRECTION</a:t>
            </a:r>
            <a:endParaRPr sz="11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122AD2-CA59-4046-9149-6827BAB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Protocol and library-preparation differences can separate otherwise comparable cells. [1,2]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CFCA8B-5E8A-44CE-8A59-FCB98F2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Integration aims to reduce this unwanted separation. [1,4–6]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A28C113A-E337-4991-BF0A-4882AB2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71675"/>
            <a:ext cx="2400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F28DAE2-6F3A-4D69-8DC2-3BF1B80F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28825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THE AML COMPLICATION</a:t>
            </a:r>
            <a:endParaRPr sz="1125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7B70AC0-42AA-484C-A5DF-9FB3BA7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14600"/>
            <a:ext cx="49149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Donor identity can overlap with patient group; malignant cells occur in diseased samples and cell lines. [1]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80E7705-11B9-4959-9681-48CBC429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57625"/>
            <a:ext cx="49149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Suppressing donor-associated structure may also weaken a useful biological signal. [1]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35B905D-7CCA-43CE-B41F-18BA63D1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91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95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Which batch-associated patterns are worth studying?</a:t>
            </a:r>
            <a:endParaRPr sz="195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D2BE4C6-6561-47BE-B734-C8C9EF9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(2026), Introduction and AML results. [2] Tung et al. (2017). [4–6] Representative integration methods.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21986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26461EF-0D06-4836-B1EF-BF601EED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FD6F39E-9634-4AA8-8A6C-8497763F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INTRODUCTION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24620D9-C724-4E7D-905A-2B5BF8C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A mixed-effects perspective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7ABD6FC-0F3B-4277-891B-22BFA6FF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E0F1249-CFB4-4E87-A34B-BDA62161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4C751C-01EC-4BBF-B359-F4667E30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05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584D946-6EA1-424D-AF7A-53B500D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66875"/>
            <a:ext cx="1022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20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Observed expression</a:t>
            </a:r>
            <a:endParaRPr sz="20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C83DC18-F4D4-4CBB-887B-4702B263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479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shared cell-state structure   +   batch-associated variation   +   residual [1]</a:t>
            </a:r>
            <a:endParaRPr sz="18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EAC675B-2967-41EF-9AA7-B335ACF6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4294066-C2CE-43CE-8D44-EED789C3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FIXED-EFFECT VIEW</a:t>
            </a:r>
            <a:endParaRPr sz="142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58DDD61-ECC0-41D0-9DA4-AE4E324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4619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Patterns that remain informative across donors and batches. [1]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2E08CA-66D6-457A-BED3-3EA8FC1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14700"/>
            <a:ext cx="483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RANDOM-EFFECT VIEW</a:t>
            </a:r>
            <a:endParaRPr sz="142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E97EFA-7AF4-4BA1-800E-D6C52DB3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19525"/>
            <a:ext cx="4838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Variation linked to a donor or batch, with technical or biological sources. [1]</a:t>
            </a:r>
            <a:endParaRPr sz="18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74CB538-FFE4-41B6-91C7-DB3F5BE3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10175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scMEDAL learns these two views in separately trained FE and RE networks. [1]</a:t>
            </a:r>
            <a:endParaRPr sz="16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2B36F7-702C-4B73-AF5A-59334E08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(2026), Methods: mixed-effects inspiration and separately trained subnetworks. Conceptual decomposition.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1008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7CB347-6787-4564-89FD-A3B8BD4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91FDAB-B49E-42D2-A269-29C9BAA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APPROACH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D883303-96A8-42D5-9AD6-E4C8F774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Two independent views of the same cell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4EE11-C7C4-483F-958D-BE683A7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9E09D9A-64C0-47F7-A167-7B7BDD28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F395890-4918-44B4-A0B7-83114A1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06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7D46BFF0-D177-4556-9E1F-2817FC42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9624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B8D9E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727D5A8-9285-48C2-B108-BA4A92EB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716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Input cell</a:t>
            </a:r>
            <a:endParaRPr sz="180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BE3F9F1-A5B9-45EA-B77A-6839CF0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Expression x; donor/batch label z</a:t>
            </a:r>
            <a:endParaRPr sz="15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618241A-F546-4A20-8535-A1F00189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6289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378647C-3703-438C-B8F9-51F6F1B9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81325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下箭头 11">
            <a:extLst xmlns:a="http://schemas.openxmlformats.org/drawingml/2006/main">
              <a:ext uri="{FF2B5EF4-FFF2-40B4-BE49-F238E27FC236}">
                <a16:creationId xmlns:a16="http://schemas.microsoft.com/office/drawing/2014/main" id="{CB122C6A-FE44-4FE7-ACFA-FA2E464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03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D5E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下箭头 12">
            <a:extLst xmlns:a="http://schemas.openxmlformats.org/drawingml/2006/main">
              <a:ext uri="{FF2B5EF4-FFF2-40B4-BE49-F238E27FC236}">
                <a16:creationId xmlns:a16="http://schemas.microsoft.com/office/drawing/2014/main" id="{18A42807-D92E-4354-804A-1103668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03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D9E4D7B6-FBCE-4E01-8E71-5B8A8A0E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191125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9525">
            <a:solidFill>
              <a:srgbClr val="B7E4E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3C118CB4-64B5-468E-8433-F7E92E3D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86125"/>
            <a:ext cx="5191125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3D3B4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8FB6051-3707-4E6F-9928-7111120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472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8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scMEDAL-FE</a:t>
            </a:r>
            <a:endParaRPr sz="187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305CE43-675C-4013-BC24-09C38009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71950"/>
            <a:ext cx="470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x enters encoder; z trains adversary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Batch-invariant latent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B25D87D-1267-4E0B-914C-4044B15F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52825"/>
            <a:ext cx="472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8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scMEDAL-RE</a:t>
            </a:r>
            <a:endParaRPr sz="187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FCDE486-672B-4534-965B-0A867A9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470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x and z condition Bayesian autoencoder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Batch-specific latent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39DF58-512D-471A-8753-02EC31B3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97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Separately trained subnetworks; embeddings can be combined downstream. [1]</a:t>
            </a:r>
            <a:endParaRPr sz="16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5E7D55A-A2CF-4070-8DAB-204444B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(2026), Methods and Fig. 1. Diagram is a simplified, editable summary.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06273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762058A-D13B-4957-9C21-F5885BF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A163AB-BD25-4F2B-9027-1180AEE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APPROACH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FBF7F2-501C-46E4-A97A-8DEFDDAD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What each network learns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3A4B1A9-C918-4A67-BC38-033D4439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17F3472-A4FA-4730-8255-E9FAA4A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56CFD7-CF2D-49F6-B8A1-6310C088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07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A947256D-F37D-495B-82BC-34519733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2578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B8D9EA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E9C0A11-692E-4123-A031-AEA1ED97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24025"/>
            <a:ext cx="54864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3D3B4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D417CD1A-255F-4007-9B5F-7EDB2FB6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971675"/>
            <a:ext cx="1771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2D924-201B-4E13-8C82-AC5FFF0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28825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FIXED EFFECTS</a:t>
            </a:r>
            <a:endParaRPr sz="11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E58116D-A01F-497C-BF23-30E7C345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L_FE  =  λr·MSE  −  λa·CE(batch)</a:t>
            </a:r>
            <a:endParaRPr sz="19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1E82614-7020-482B-8D94-AFE9D335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323EFA8-6931-405B-92F7-4A8F901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Reconstructs gene expression.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0CB9885-1D5E-41FD-B156-09041834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499DC72-7559-4081-B90E-B2CF0C1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386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Encoder obscures batch labels; adversary learns to predict them. [1]</a:t>
            </a:r>
            <a:endParaRPr sz="15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45E9567D-0563-483F-BAE0-C7FB1E0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1943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3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5C68AFD-2A66-4B6C-885D-3621863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288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RANDOM EFFECTS</a:t>
            </a:r>
            <a:endParaRPr sz="1125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176CBBA-B7BB-4871-AF94-509028E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933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L_RE  =  λr·MSE  +  λb·CE(batch)</a:t>
            </a:r>
            <a:endParaRPr sz="1800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          +  λk·KL(q(U) || p(U))</a:t>
            </a:r>
            <a:endParaRPr sz="1800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FD92E8B-D991-4D82-AD35-255CF775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C788FE3-38C7-4402-B0E4-7F2D9D4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470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Conditions on batch to model its variation.</a:t>
            </a:r>
            <a:endParaRPr sz="15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F56C812-BA5F-42E0-92AC-9D7620CF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8A76279-2050-42E8-8B41-DF065FA9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0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KL regularizes the learned weight distribution. [1]</a:t>
            </a:r>
            <a:endParaRPr sz="15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BDF4558-34CD-4AD0-A39B-DD33EA22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(2026), Eqs. 2 and 8; simplified notation.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69902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2C00E46-CE28-4953-9CBD-0E75D1E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E44B54-3A7D-4C02-B806-78703FA0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EXPERIMENT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DBC48A1-C68A-4169-A350-067A5A79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AML five-fold reproduction: data and compute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0A98DB5-63E6-45E9-B35F-B52A6119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72037A7-7677-430B-84AE-CDCA9941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FCA1-A1B7-4A7D-AE34-4A854F9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08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5F5A5D5-112A-4ED8-AB6D-A326C55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543175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A64DD4-CFF8-4BC4-A5D2-3EC8048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30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23,049</a:t>
            </a:r>
            <a:endParaRPr sz="307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03F0CAC-74B9-4D6C-93E4-B56551C6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cells [1]</a:t>
            </a:r>
            <a:endParaRPr sz="1275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E8DD8544-6846-4A11-BC1F-28A6050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43175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A5FE19E-E5CA-4115-836D-9979F852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431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30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19</a:t>
            </a:r>
            <a:endParaRPr sz="307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A12A818-050D-4CEC-8913-E0E1AA3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431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batches [1]</a:t>
            </a:r>
            <a:endParaRPr sz="1275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46D68F6-8C1C-4BFA-8C88-5BD81103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2543175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981D407-B41D-4D3E-8C44-EA2C496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30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2,916</a:t>
            </a:r>
            <a:endParaRPr sz="307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72BD1A6-3172-4C92-BEE8-4FDB91A3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431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selected genes [1]</a:t>
            </a:r>
            <a:endParaRPr sz="1275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6AFF9BC7-A0B6-4305-B2D0-9EB1F2F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52600"/>
            <a:ext cx="2543175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E6EEA23-B084-4A95-99DC-EA113686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30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0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5</a:t>
            </a:r>
            <a:endParaRPr sz="307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ACB04F3-7559-458A-B396-408DB737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4317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train/val/test folds</a:t>
            </a:r>
            <a:endParaRPr sz="1275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A6E4A40-0E2D-411D-9007-5AF0CFA5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21970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00FA6A46-F559-44CA-98FE-FD91E370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5505450" cy="2257425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9851B5A8-82D5-4513-8081-0E1519F9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F41EE3-5121-41B2-BF9B-469E6467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533775"/>
            <a:ext cx="1866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SHARED EVALUATION</a:t>
            </a:r>
            <a:endParaRPr sz="11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C1DB493-A528-4A23-8F83-4010E602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0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45C3433-210D-41BF-9FB4-EA589530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00500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Author-provided log-transformed AML splits.</a:t>
            </a:r>
            <a:endParaRPr sz="15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0BCE4BB-92C9-456C-A980-A75CA5B5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03FD209-8619-4DFD-9BDF-BEAF095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4486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50-dimensional representations; metrics sample up to 10,000 cells.</a:t>
            </a:r>
            <a:endParaRPr sz="15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35419E32-D064-4F1C-AAC2-12457D8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17811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CF78301-D44B-4D2B-8BAD-D3ED852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33775"/>
            <a:ext cx="155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MODEL TRAINING</a:t>
            </a:r>
            <a:endParaRPr sz="1125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FF38540-3E14-4C2A-B3AA-4C08E9D0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0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BF9E125-99E5-4DC1-8ACB-AA7B418B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FE and RE: 512 / 132 hidden units, 500-epoch cap.</a:t>
            </a:r>
            <a:endParaRPr sz="15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BD15E26-DEA3-4022-B71A-3F560E8F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549138F-5C1E-4837-AE64-DA005D99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24375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Early stopping patience 30; formal GPU jobs on NSCC.</a:t>
            </a:r>
            <a:endParaRPr sz="15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FDDC2E-DC6D-4CCC-A05F-0FBF0571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(2026); local source: canonical run manifest and completed PBS logs.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27659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9066619-BB1C-4A85-9614-7BCAC74C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FE8C660-A198-4228-8B44-481A8CD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EXPERIMENT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F7E0736-9F65-4AF8-85B5-1EDD50A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Compare like with like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F7E2381-27EC-426A-AED5-820CB900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D7C6C71-F9E1-4337-82BA-C91B8D8F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BB4BDF-EDB9-4F70-96EE-A0D5CDF1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09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A12A80C9-0019-4D40-8C9B-55CE940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006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55D4FCD-D594-41D0-AC3E-BA0F13A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55054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BC1103FC-29A0-46B0-AD13-BA4D71B0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1952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7CC5E5-26A3-4817-9143-665D11A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724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PRIMARY READOUT</a:t>
            </a:r>
            <a:endParaRPr sz="11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78CCFFC-ADC3-436C-9437-D9CA1E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Average silhouette width (ASW), reported as test-fold mean and uncertainty across five folds. [1]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82F58DF-C09D-4C01-AE3A-FC0CD45A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686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Cell-type ASW: higher means clearer cell-type grouping. [1]</a:t>
            </a:r>
            <a:endParaRPr sz="15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DF0F23F-A4EA-4311-AB04-C40077C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223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A58F613-ED9A-40CF-8104-5CE772A8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2009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955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9551C"/>
                </a:solidFill>
                <a:latin typeface="Aptos"/>
                <a:ea typeface="Aptos"/>
                <a:cs typeface="Aptos"/>
              </a:rPr>
              <a:t>TWO DIFFERENT GOALS</a:t>
            </a:r>
            <a:endParaRPr sz="1125" b="1">
              <a:solidFill>
                <a:srgbClr val="99551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4A52C38-C204-4685-BEBF-0828C782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FE, Harmony, Scanorama, scVI, scANVI: assess batch suppression with biology retention. [1]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095C1A6-1705-465A-B8F5-619625DE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RE: high batch separability is intended; it is a complementary representation. [1]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5DD75EB-652D-4290-B9AB-BEF9F87A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67350"/>
            <a:ext cx="10429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4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scANVI uses cell-type labels; UMAP complements, but does not replace, ASW.</a:t>
            </a:r>
            <a:endParaRPr sz="142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9FEB90E-FCB8-480C-9713-AAD94E9E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(2026), Experiment 1. UMAP panels are qualitative.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6162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3572A2C-2CF2-48C3-BC1A-C771760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4E5988E-B628-4A90-A644-3EFA2D95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E832440-5245-453A-949D-B0F3D098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Five-fold test ASW across six methods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C44D901-DCF4-411B-9E91-D3E6389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0CD30F-C9F4-4A68-8D93-63B54D5C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8B9CEB-7449-4876-9496-6AB87A3D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10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6F4176AD-A2AB-4C85-BC92-7D1A4AF0E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965af5b3343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3785" y="1495425"/>
            <a:ext cx="9225380" cy="443865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3D39B0B-240F-411E-877C-68B20AE9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Our reproduction: five-fold held-out test ASW with 95% t CIs. RE is shown as a batch-modeling reference.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28936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6A83711-B764-4674-8190-BBFC5391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54045E7-DD39-4E4C-BF65-65572596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8B7DDB-EB62-493B-8EC0-E9D6B71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The numerical result: mean ± SD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3C75C8D-C318-489D-8178-D480AF60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12627F-B07E-4BA5-B354-7C947BC4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2FF0DC-48A4-4DA6-BD92-DE6ED05E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11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7" name="表格 6">
            <a:extLst xmlns:a="http://schemas.openxmlformats.org/drawingml/2006/main">
              <a:ext uri="{FF2B5EF4-FFF2-40B4-BE49-F238E27FC236}">
                <a16:creationId xmlns:a16="http://schemas.microsoft.com/office/drawing/2014/main" id="{1E684C03-BB35-45ED-99D8-4A7904C937C6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2" cy="3409952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38438"/>
                <a:gridCol w="2738438"/>
                <a:gridCol w="2738438"/>
                <a:gridCol w="2738438"/>
              </a:tblGrid>
              <a:tr h="4871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Method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0A37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Batch ASW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0A37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Cell-type ASW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0A37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Role</a:t>
                      </a:r>
                      <a:endParaRPr sz="1275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0A3767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scMEDAL-FE</a:t>
                      </a:r>
                      <a:endParaRPr sz="1350" b="1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−0.038 ± 0.006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0.054 ± 0.003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batch-invariant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scMEDAL-RE</a:t>
                      </a:r>
                      <a:endParaRPr sz="1350" b="1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0.685 ± 0.026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−0.077 ± 0.007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batch-specific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Harmony</a:t>
                      </a:r>
                      <a:endParaRPr sz="1350" b="1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−0.107 ± 0.001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0.018 ± 0.002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integration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Scanorama</a:t>
                      </a:r>
                      <a:endParaRPr sz="1350" b="1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−0.170 ± 0.014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0.010 ± 0.011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integration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scVI</a:t>
                      </a:r>
                      <a:endParaRPr sz="1350" b="1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−0.236 ± 0.007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0.029 ± 0.012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generative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71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scANVI †</a:t>
                      </a:r>
                      <a:endParaRPr sz="1350" b="1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−0.180 ± 0.005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0.214 ± 0.004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label-informed</a:t>
                      </a:r>
                      <a:endParaRPr sz="1350" b="0">
                        <a:solidFill>
                          <a:srgbClr val="172B3E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91440" marR="91440" marT="45720" marB="45720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58A937-D2A3-4665-BD96-7632C4F8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† scANVI uses cell-type labels during training. RE is not a batch-correction embedding.</a:t>
            </a:r>
            <a:endParaRPr sz="13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FD8F63-D069-4E23-9833-B109A68F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Our reproduction: test_metrics_long.csv (n = 5 folds). Values rounded to 3 decimals.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33087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9312C19-64D9-4608-A7BD-2091D59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586B54-F1F0-403D-A588-EF8F5F9B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955C44E-72E3-41D9-B421-1768F7C7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UMAP makes FE and RE behavior visible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CA2DD18-3F2A-4E09-B951-B26A3C45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3ED6CB5-CBEA-4B35-A367-CD08D4D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18B2BD-505A-44AB-99D0-5364619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12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6DF8EF-AFE1-4F6C-A540-2BC749E9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28775"/>
            <a:ext cx="4933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scMEDAL-FE: partial batch mixing</a:t>
            </a:r>
            <a:endParaRPr sz="172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0C3F85-6411-474E-9C1D-9289F1A8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28775"/>
            <a:ext cx="4933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7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scMEDAL-RE: separated batches</a:t>
            </a:r>
            <a:endParaRPr sz="172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图片 8">
            <a:extLst xmlns:a="http://schemas.openxmlformats.org/drawingml/2006/main">
              <a:ext uri="{FF2B5EF4-FFF2-40B4-BE49-F238E27FC236}">
                <a16:creationId xmlns:a16="http://schemas.microsoft.com/office/drawing/2014/main" id="{DF42A86D-53AD-4643-8F39-63961ABD1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121b709f9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3452" y="1990725"/>
            <a:ext cx="3871046" cy="3848100"/>
          </a:xfrm>
          <a:prstGeom xmlns:a="http://schemas.openxmlformats.org/drawingml/2006/main" prst="rect">
            <a:avLst/>
          </a:prstGeom>
        </p:spPr>
      </p:pic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9FE7BE76-484A-4887-86E2-1C656CC24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68c6c3b5548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9877" y="1990725"/>
            <a:ext cx="3871046" cy="3848100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B9DCBAF-979D-4DE2-9AC3-DABADA18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8A682E-FB85-45BC-8DEC-8BD45B72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Our reproduction: fold 1 training partition, 19-batch coloring. UMAP geometry is qualitative.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598625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75C24-6D4C-4F69-B326-799B2DE7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CEF1D-DB19-4A19-A984-5F36660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10F5-5241-46F8-B500-35F0DB3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Cell-type structure differs between FE and 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54616-D882-484C-801B-76E51502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4F9A7-2157-4578-91EE-80C3E26D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6E389-46EB-498E-9B7D-1A9F873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39078-5446-4407-A372-C05539AB0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fa9090f81401f"/>
          <a:stretch xmlns:a="http://schemas.openxmlformats.org/drawingml/2006/main"/>
        </p:blipFill>
        <p:spPr>
          <a:xfrm xmlns:a="http://schemas.openxmlformats.org/drawingml/2006/main">
            <a:off x="966788" y="1533525"/>
            <a:ext cx="10239375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1AB2E-69D5-4A64-ADBC-37492D1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Test cell-type ASW: FE 0.054; RE −0.077. Donor structure can split the same cell type.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DEFEC-120B-4EF1-A07C-4B42334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Reproduction: fold 1 training UMAP, same cells, existing coordinates. Test ASW summarizes five folds.</a:t>
            </a:r>
          </a:p>
        </p:txBody>
      </p:sp>
    </p:spTree>
    <p:extLst>
      <p:ext uri="{BB962C8B-B14F-4D97-AF65-F5344CB8AC3E}">
        <p14:creationId xmlns:p14="http://schemas.microsoft.com/office/powerpoint/2010/main" val="5738791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ED801-57A8-4840-BC0B-990923FF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E43DA-39C1-45FC-B86F-B855C5AB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B22A7-16BB-42CA-836F-388083A7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Patient-group patterns follow donor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D3CC8-8D57-4AD7-91B6-581ED631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8A0AA-E003-4375-BD21-FD258202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8F4B1-3C0C-40D5-A1DE-08D6838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08DC2-818C-4163-90CC-72057B6FF8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ebde6aa3449dd"/>
          <a:stretch xmlns:a="http://schemas.openxmlformats.org/drawingml/2006/main"/>
        </p:blipFill>
        <p:spPr>
          <a:xfrm xmlns:a="http://schemas.openxmlformats.org/drawingml/2006/main">
            <a:off x="1038225" y="1552575"/>
            <a:ext cx="10096500" cy="403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A016E-0198-4FD4-990F-DF54559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61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RE retains group-associated structure; donor and patient group remain linked.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3F257-48F8-4340-835A-75E5723A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Reproduction: fold 1 training cells, three annotated groups. Independently fitted UMAP geometry is qualitative.</a:t>
            </a:r>
          </a:p>
        </p:txBody>
      </p:sp>
    </p:spTree>
    <p:extLst>
      <p:ext uri="{BB962C8B-B14F-4D97-AF65-F5344CB8AC3E}">
        <p14:creationId xmlns:p14="http://schemas.microsoft.com/office/powerpoint/2010/main" val="1411335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936319-B315-41A1-A45B-08F04A7B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04D350E-6E96-4E6D-AD87-1BBC79A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INTERPRETATION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DC253AA-0107-4D1E-BFC2-C739B34D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A donor-swap reconstruction is an as-if simulation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E635B76-AD23-42A4-B882-BF0C4135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D653296-D8C6-4687-ACD9-B950CA1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2FC7EA9-E681-4176-8490-3DF747E5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15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D4BE49A-7F29-4EDD-AAD8-C4454CF5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B8D9EA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46997813-7598-4C59-A4CC-4D9FCC2F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9F7F5"/>
          </a:solidFill>
          <a:ln xmlns:a="http://schemas.openxmlformats.org/drawingml/2006/main" w="9525">
            <a:solidFill>
              <a:srgbClr val="B7E4E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43CEE91-5915-46D0-AAC7-8EFCE70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2194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3D3B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CF320A-65AE-4835-AEBE-96C7DE7B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771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1  Encode one cell</a:t>
            </a:r>
            <a:endParaRPr sz="187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464AF58-0438-4BCC-80D8-E4615FEB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Hold the learned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cell-specific latent r fixed.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40A5D1E-46ED-469E-8206-99B91096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85975"/>
            <a:ext cx="2771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2  Swap donor label</a:t>
            </a:r>
            <a:endParaRPr sz="187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6CF90E-18D0-4141-ABBA-024D7135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Replace z with a target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donor or batch label.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1DB31F-459C-42D7-922E-732F6236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85975"/>
            <a:ext cx="2771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3  Reconstruct</a:t>
            </a:r>
            <a:endParaRPr sz="187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11D541B-7C3F-48AD-8D67-1B53CC47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05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Decode a model-generated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expression profile x̂(r,z).</a:t>
            </a:r>
            <a:endParaRPr sz="172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DE2BC4DA-1B62-43B6-8C55-CD9D51AD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9925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5E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2BFE1C9E-80CF-4901-81C5-7414CAD6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9925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9206EF4-FC07-4F3B-A48E-8F9A1454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40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8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Interpretation: a model-generated hypothetical expression profile</a:t>
            </a:r>
            <a:endParaRPr sz="180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DFC6169-7EFB-40BD-96EA-211EEDA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[1] Andrade et al. (2026), Methods and counterfactual figures; our wording emphasizes simulation scope.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699928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0FF4556F-FD47-4998-8ADE-A5B29563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E50CD9F-EC6C-4B52-A564-D36A63D8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F32C834-0935-484C-A176-8D03B446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Selected donor-conditioned gene shifts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D3BCFD7-E95E-4316-AF92-FFB75269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B902C62-1862-4D8E-A8E8-E62E1EE0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54E6BC-950C-420D-A71B-CAD83D64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16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DA7815E-4656-41C6-9EFE-924C68A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033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Δ predicted expression  =  AML-target mean − control-target mean</a:t>
            </a:r>
            <a:endParaRPr sz="1575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C707C12-74BE-4816-9F06-0DFEEA12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21717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BB4CFEA-80F6-4251-BF8D-1409BEC0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25" y="51435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-0.15</a:t>
            </a:r>
            <a:endParaRPr sz="10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5D0412-9E2D-4292-ACB7-8FA60577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717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E2E7539-2258-4823-9BD5-C40814F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-0.10</a:t>
            </a:r>
            <a:endParaRPr sz="10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C304FC-CD4E-4433-B0BA-126E62D9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21717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06509E0-8E62-4F7D-A5DF-C3E22CC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25" y="51435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-0.05</a:t>
            </a:r>
            <a:endParaRPr sz="10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678199D-1459-4A95-953C-ACA254A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550" y="21717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3738DB8-D994-4414-97AD-F36ED2C7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6275" y="51435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0.00</a:t>
            </a:r>
            <a:endParaRPr sz="10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50D5C1D-5FF0-4BC4-9076-0E61DF4C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4359F95-E521-4608-9475-7CCBE66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435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+0.05</a:t>
            </a:r>
            <a:endParaRPr sz="10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CD625F-58AA-48C1-B695-64BD91F0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050" y="21717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729F1BC-F6B4-4C13-8C62-B181C22B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775" y="5143500"/>
            <a:ext cx="590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+0.10</a:t>
            </a:r>
            <a:endParaRPr sz="1050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B5F840E-C508-477D-BA71-4D95393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TXNIP</a:t>
            </a:r>
            <a:endParaRPr sz="15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B02A9F8-5F03-4792-986A-82C2B631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5317" y="2552700"/>
            <a:ext cx="298412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04541CA-B2C6-4AE7-AD14-CC838BC8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792" y="248602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9DE2412-A271-4DB4-A85D-4E03AD5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920" y="248602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7113724A-BD8A-41EA-B460-8E7DA370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81" y="2495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25294D4-64CA-4495-83B8-C1354923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574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r"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-0.086</a:t>
            </a:r>
            <a:endParaRPr sz="127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F5557E6-D96F-40CB-AA04-7A87900B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FTL</a:t>
            </a:r>
            <a:endParaRPr sz="15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4595A1A-A6CA-447D-AC11-5E82F40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102" y="3228975"/>
            <a:ext cx="20526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105E4AF-7634-4407-B44B-C9D2EDCA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577" y="31623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FEBFEFE-08B1-47D2-AF28-2DA22AB7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264" y="31623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5C486DEB-83DD-4E24-A9E9-242B65ED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246" y="3171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5EBEAF6-ADFE-4740-A21F-7F700B56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1337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r"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-0.077</a:t>
            </a:r>
            <a:endParaRPr sz="127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ECB35A3-23A6-4874-A573-26540A3E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10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SAMSN1</a:t>
            </a:r>
            <a:endParaRPr sz="15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FEF0FB2-254B-4D6C-9254-0BD1171E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064" y="3905250"/>
            <a:ext cx="105662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BA8951-3670-4AA4-9AB4-4DCFC8A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539" y="383857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14F642C-6E2E-47FD-A331-8990498F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161" y="383857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6BA537A8-81C0-433B-BB92-E7700D8A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6175" y="3848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C0E5221-27B0-452B-9F97-A2ACB76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810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r"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-0.071</a:t>
            </a:r>
            <a:endParaRPr sz="127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1CBA983-3C1D-421B-8664-915BDBFA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862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HIST1H1D</a:t>
            </a:r>
            <a:endParaRPr sz="15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30B0C33-70B5-4802-9551-0CD332F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064" y="4581525"/>
            <a:ext cx="121537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4101F045-A837-4F14-B597-14098D5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539" y="45148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C8EA3DA-BCA3-4B4C-9BFF-5EB10FE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916" y="45148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椭圆 41">
            <a:extLst xmlns:a="http://schemas.openxmlformats.org/drawingml/2006/main">
              <a:ext uri="{FF2B5EF4-FFF2-40B4-BE49-F238E27FC236}">
                <a16:creationId xmlns:a16="http://schemas.microsoft.com/office/drawing/2014/main" id="{62F76303-9BB3-4636-98F7-727B1EF3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553" y="4524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F76E686-49E6-4C50-983B-75F5C1E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4862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r">
              <a:defRPr sz="12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+0.065</a:t>
            </a:r>
            <a:endParaRPr sz="127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74DF3F3-7BBD-4A38-99C6-778ADC3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Across 2,916 genes, 216 had the same modeled AML−control direction in all five folds.</a:t>
            </a:r>
            <a:endParaRPr sz="150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31025DF2-77FB-4471-AE5D-A5C0CCD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Our reproduction: five-fold Mono/Mono-like analysis; points = fold means, whiskers = fold-to-fold SD. Descriptive as-if simulation.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793340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A8DC7-35F0-4300-9A92-87F52C51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42362-B538-419B-A592-D4CF1C1B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96D43-13DD-4A5D-BBF1-74960C1F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Selected reconstruction shifts across five folds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0F282-D5E5-44D4-807C-09B42CC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EBC2F-13DE-436E-B6E4-B63FCCA3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136FE-9369-4A80-8EA4-30CC39D8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35D85-66E1-4194-9EC1-A460DBA984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c89d3ce1b4be6"/>
          <a:stretch xmlns:a="http://schemas.openxmlformats.org/drawingml/2006/main"/>
        </p:blipFill>
        <p:spPr>
          <a:xfrm xmlns:a="http://schemas.openxmlformats.org/drawingml/2006/main">
            <a:off x="587468" y="1638300"/>
            <a:ext cx="8511988" cy="4019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DD0BC-41D2-4E72-804B-A629B8C9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66900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HOW TO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724DC-B9BF-4F26-91D3-F95A3735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62200"/>
            <a:ext cx="21526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Red: AML-target mean higher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Blue: control-target mean higher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BD93C-9CA2-465A-8E31-3648A0C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24325"/>
            <a:ext cx="2152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5/5 counts direction consistency across folds.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5FA67-4302-4456-ACE5-B0ACD9FA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53100"/>
            <a:ext cx="1062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Direction stability is descriptive. Fold 1 had zero BH-FDR &lt; 0.05 genes.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DD65A-9678-47BF-9D0A-29B67ECE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Reproduction: selected_gene_stability.csv. Same target donors recur across folds. Model-generated as-if simulation.</a:t>
            </a:r>
          </a:p>
        </p:txBody>
      </p:sp>
    </p:spTree>
    <p:extLst>
      <p:ext uri="{BB962C8B-B14F-4D97-AF65-F5344CB8AC3E}">
        <p14:creationId xmlns:p14="http://schemas.microsoft.com/office/powerpoint/2010/main" val="19345093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7FD63-1A3C-4D49-8138-4A6A481D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9CC09-3029-4BEB-89DD-EE1921F1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699F2-B6E8-4B13-9651-0676F110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SAMSN1 predictions vary across target donors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E3F3-3C5C-44A8-95AA-21BA51A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AFD9F-F102-42F8-83E4-94A2938E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10740-8EBC-49C6-96D9-5504EF78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FB30A-C958-4920-A3AD-5F5DC5FE21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9eadad74148f5"/>
          <a:stretch xmlns:a="http://schemas.openxmlformats.org/drawingml/2006/main"/>
        </p:blipFill>
        <p:spPr>
          <a:xfrm xmlns:a="http://schemas.openxmlformats.org/drawingml/2006/main">
            <a:off x="609600" y="1701800"/>
            <a:ext cx="10953750" cy="335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CF785-48E9-4105-9914-DB876492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244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Mean AML minus control: −0.0713</a:t>
            </a:r>
          </a:p>
          <a:p xmlns:a="http://schemas.openxmlformats.org/drawingml/2006/main">
            <a: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After excluding BM5: −0.0565, with the direction retained.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1046A-AABC-44DF-866D-5EEC8EEE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Reproduction: same target donors in five source-cell folds. Points = fold mean; bars = fold SD. Model-scaled expression.</a:t>
            </a:r>
          </a:p>
        </p:txBody>
      </p:sp>
    </p:spTree>
    <p:extLst>
      <p:ext uri="{BB962C8B-B14F-4D97-AF65-F5344CB8AC3E}">
        <p14:creationId xmlns:p14="http://schemas.microsoft.com/office/powerpoint/2010/main" val="7408309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15D6E43-E340-4DA0-84D0-9335EEF7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DFE4BE7-BE35-4647-BA87-0DECB6C0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DISCUSSION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CEABF87-E703-4729-860A-552557DD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Interpretation of the AML evaluation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3AA5FEF-26DE-4052-92E4-36C33F71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F0F7A65-DD58-4FFF-9E89-A0D89958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1E93CF-B020-4C97-B509-1912710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19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BCC75-120D-4BAF-9FF8-502DB674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BATCH-INVARIANT REPRESENTATIONS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6CF54-1829-49C1-827D-7997FC2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981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FE has modest cell-type separation: ASW 0.054, compared with 0.018 for Harmony, 0.010 for Scanorama and 0.029 for scVI.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1C1D31-CB3A-4CD9-86F4-2FF7684D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9815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Its raw batch ASW is closer to zero (−0.038), indicating more residual batch structure under this readout.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FEFDE-6D87-4062-A425-14ECB973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24025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BATCH-SPECIFIC REPRESENTATION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74DD3-315F-40BF-AEC0-9AF79B68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47900"/>
            <a:ext cx="50387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RE has high batch ASW (0.685) and fragmented cell-type structure (−0.077), consistent with its donor-aware objective. [1]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90E7D1-D317-4FBD-828F-2C67AAF4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90950"/>
            <a:ext cx="50387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scANVI has the highest cell-type ASW (0.214) and uses cell-type labels during training. [7]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0CFD9C-B527-4562-BCE0-2F538A9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14975"/>
            <a:ext cx="10544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Both labels matter. Combined FE+RE prediction requires a separate evaluation.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8B01EB-166C-43C1-BEED-41741D8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Reproduction: five-fold held-out test means. [1] Andrade et al. (2026). [7] Xu et al. (2021).</a:t>
            </a:r>
          </a:p>
        </p:txBody>
      </p:sp>
    </p:spTree>
    <p:extLst>
      <p:ext uri="{BB962C8B-B14F-4D97-AF65-F5344CB8AC3E}">
        <p14:creationId xmlns:p14="http://schemas.microsoft.com/office/powerpoint/2010/main" val="12703418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00F4F-C40E-43F2-A23E-7CAEFCF8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A60FA-2252-4962-ADFC-8D7A370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66EDC-6A32-40BA-8D51-37AAD69F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Limitations and next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41B6A-B436-464C-8922-A5CC622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15E6F-E26C-4914-820C-8869345C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0B406-F813-4CEA-A0D6-722E51A0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CD1DE-81A4-4E06-8A73-613B29B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DATA AND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4884-AC41-4F86-89E4-6CDFF0F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972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One author-preprocessed AML dataset. Cell-level folds reuse donors across partitions.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9E465-84CF-48F6-9C6A-A8BB0285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972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Current evidence uses ASW and qualitative UMAP. Additional local mixing and biology checks would broaden 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92FA2-5E1B-4CF4-9770-D11AC0D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43075"/>
            <a:ext cx="517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RECONSTRUCTION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AE8B2-3957-4F54-8D3A-A661FCF0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24100"/>
            <a:ext cx="5048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Target donors recur across folds. Fold-to-fold variation does not measure independent-cohort uncertainty.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996E9-7177-4D1E-B4F7-FE34C0A7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1475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Priorities: donor-held-out validation, FE+RE prediction, and a controlled FE loss-weight study.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C090F-A677-4D42-8AEF-01640626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Interpretation scope: model-generated as-if simulations with donor–group confounding.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673C1-53DF-4EFE-A961-1CD9BD8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Sources: canonical run records and reconstruction summaries. [1] scMEDAL. [8] Integration benchmark.</a:t>
            </a:r>
          </a:p>
        </p:txBody>
      </p:sp>
    </p:spTree>
    <p:extLst>
      <p:ext uri="{BB962C8B-B14F-4D97-AF65-F5344CB8AC3E}">
        <p14:creationId xmlns:p14="http://schemas.microsoft.com/office/powerpoint/2010/main" val="313829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3C2F2B2-A8C7-421B-B88F-19FAE17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652C674-3B11-479A-A7FC-2F9C675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CONCLUSION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887D5FA-A8EC-4D8C-89E9-4309AA6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Conclusion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95BADA2-191E-477D-9F99-5D39CBE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172BA0E-5286-43D3-84D0-911DCE7C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BDCCC6-808B-45E6-B291-0C6FE93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21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E85CF7A-62D4-41E2-82FE-C7A47C48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0725150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1EFFF92C-6D4D-4814-8098-0EC33ED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25150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922BEBDE-03F6-42E9-9AC6-00653743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0725150" cy="1076325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F85635-D4F2-4020-80D3-1A95AF8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97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01</a:t>
            </a:r>
            <a:endParaRPr sz="232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09D21C0-6E7D-415B-9151-3ACE9A4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71675"/>
            <a:ext cx="91344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This reproduction evaluates independent FE and RE networks on the authors’ AML splits.</a:t>
            </a:r>
            <a:endParaRPr sz="18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1E92C7-3AD5-4305-B954-B252B0C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02</a:t>
            </a:r>
            <a:endParaRPr sz="232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CBA90D0-2084-4D92-A043-D4106450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67075"/>
            <a:ext cx="9134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Five-fold results distinguish batch-invariant and batch-specific representation patterns.</a:t>
            </a:r>
            <a:endParaRPr sz="18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6F03549-AB69-4239-B577-8AEE9E88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03</a:t>
            </a:r>
            <a:endParaRPr sz="2325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0F8C797-7269-44B7-AD46-2CD9A545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62475"/>
            <a:ext cx="9134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B3E"/>
                </a:solidFill>
                <a:latin typeface="Aptos"/>
                <a:ea typeface="Aptos"/>
                <a:cs typeface="Aptos"/>
              </a:rPr>
              <a:t>Donor-swap reconstructions reveal descriptive patterns and donor sensitivity.</a:t>
            </a:r>
            <a:endParaRPr sz="1875" b="1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7043F8-D456-44DA-BFA3-26F46EC0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Scope: one preprocessed AML dataset with five-fold evaluation and model-generated as-if simulations.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61203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66865-C3B6-4ADE-9F2E-C87D1A1D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EE548-2FB2-4FEC-9625-9791005E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886B3-7D17-4E57-AADF-64317A9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Reproducibility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1EFD7-0ED9-4F43-9690-DE47F2B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3E930-25CE-4B39-86C3-AA416F1F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A02BF-B77A-49D1-A6CD-6D333B73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17117-390E-44C3-86CD-5AB51CD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954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github.com/s2275157/</a:t>
            </a:r>
          </a:p>
          <a:p xmlns:a="http://schemas.openxmlformats.org/drawingml/2006/main">
            <a:pPr algn="l">
              <a:defRPr sz="21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BMI5101-group10-scMEDAL-repruduction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573CC-640B-461D-AC89-87FBBCC5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FC8C6-3E95-4E1E-B33F-CE9FCB09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686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Editable deck and a guide to the result figures.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F9E5D-0ADD-430B-B43E-01867653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CD1A-5C23-4479-9CC3-4AD1B0EA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9815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Canonical run manifest, environment notes, five-fold tables, and figure-generation scripts.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5E313-2B0A-4995-BD97-1402D48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1042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README links the upstream implementation and author-provided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9699D-D3CE-4E35-B923-B195BCA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Public archive: README.md, reproducibility/, results/, presentations/. Derived figures and summary tables.</a:t>
            </a:r>
          </a:p>
        </p:txBody>
      </p:sp>
    </p:spTree>
    <p:extLst>
      <p:ext uri="{BB962C8B-B14F-4D97-AF65-F5344CB8AC3E}">
        <p14:creationId xmlns:p14="http://schemas.microsoft.com/office/powerpoint/2010/main" val="19486744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90E971-EF45-4E44-AA0B-094C0AA8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68D7AB-A931-416C-B8A8-B3C9CCC1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REFERENCES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9CF844B-32A4-42F0-86A1-8EF5DB9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References and reproducibility sources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3C05E9C-BE3B-4CA8-ACC7-8BA38CB4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7DD213E-E4D8-45E7-B643-65BDAD7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617ED8-2113-482E-9C31-D5D2FF4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23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CE482C-D09F-454D-84B9-04C65294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04950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[1] Andrade AX et al. scMEDAL. Nature Communications 17, 7075 (2026). doi:10.1038/s41467-026-72666-4.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F830B1E-BA81-4528-9B5B-A0A3261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95475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[2] Tung P-Y et al. Batch effects and effective design in scRNA-seq. Scientific Reports 7, 39921 (2017).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2AEBF77-F2C2-44A1-A46C-3A7F24F7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[3] van Galen P et al. Single-cell RNA-seq reveals AML hierarchies. Cell 176, 1265–1281.e24 (2019).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0ADF076-DBB4-4AC3-9D53-40D3AC2D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76525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[4] Korsunsky I et al. Harmony. Nature Methods 16, 1289–1296 (2019).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61CC021-9650-4421-8F33-BE930761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67050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[5] Hie B et al. Scanorama. Nature Biotechnology 37, 685–691 (2019).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86A66A4-1DE4-434E-B4FA-0F09135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57575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[6] Lopez R et al. scVI. Nature Methods 15, 1053–1058 (2018).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6767AD-CE92-4338-963C-805BD145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48100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[7] Xu C et al. scANVI. Molecular Systems Biology 17, e9620 (2021).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81F82B4-1A14-4020-83A3-25D93EDE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[8] Tran HTN et al. Benchmark of 14 batch-correction methods. Genome Biology 21, 12 (2020). doi:10.1186/s13059-019-1850-9.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E2F43E7-39E0-4915-8C28-CFC11AC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29150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[9] Luecken MD et al. Benchmarking atlas-level integration. Nature Methods 19, 41–50 (2022). doi:10.1038/s41592-021-01336-8.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BEE4E9C-F181-4447-9647-07CF11EB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19675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32"/>
          </a:bodyPr>
          <a:lstStyle xmlns:a="http://schemas.openxmlformats.org/drawingml/2006/main">
            <a:defPPr algn="l"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[10] Townsend HA et al. Single-cell data and genetics in inflammation. Frontiers in Immunology 15, 1454263 (2024). doi:10.3389/fimmu.2024.1454263.</a:t>
            </a:r>
            <a:endParaRPr sz="1275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A961867-F7A2-4EB1-988B-E223D35B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49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A8F6D37-E9D9-4BAB-A987-B34C833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57850"/>
            <a:ext cx="1064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2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5"/>
                </a:solidFill>
                <a:latin typeface="Aptos"/>
                <a:ea typeface="Aptos"/>
                <a:cs typeface="Aptos"/>
              </a:rPr>
              <a:t>Reproduction evidence: canonical run manifest; AML test_metrics_long.csv; five-fold counterfactual summary; fold-1 UMAP assets.</a:t>
            </a:r>
            <a:endParaRPr sz="1275" b="0">
              <a:solidFill>
                <a:srgbClr val="526575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89545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8F19B-D26F-464A-8400-35E1B971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90A1C-6F7F-474D-B772-48CDE98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98F5B-78E4-4EE7-ACA6-05EBCF6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Recorded configuration and figure provenance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9D9F6-E0AF-4D1F-AC2E-863D4DDD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DD46-F8CD-4CB7-9063-B41959D9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DBD56-0942-4DD5-A0F2-1C67CA3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6EFA3-B705-4742-8BDE-B3A480DED6C1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53750" cy="3762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05075"/>
                <a:gridCol w="4191000"/>
                <a:gridCol w="4257675"/>
              </a:tblGrid>
              <a:tr h="47029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Setting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T w="9525">
                      <a:solidFill>
                        <a:srgbClr val="D5E0E8"/>
                      </a:solidFill>
                      <a:prstDash val="solid"/>
                    </a:lnT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0A37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scMEDAL-FE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T w="9525">
                      <a:solidFill>
                        <a:srgbClr val="D5E0E8"/>
                      </a:solidFill>
                      <a:prstDash val="solid"/>
                    </a:lnT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0A376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scMEDAL-RE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T w="9525">
                      <a:solidFill>
                        <a:srgbClr val="D5E0E8"/>
                      </a:solidFill>
                      <a:prstDash val="solid"/>
                    </a:lnT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0A3767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Input / scaling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2,916 log-transformed HVGs / min–max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Same input and supplied folds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Hidden / latent units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512, 132 / 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512, 132 / 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Batch size / epoch cap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512 / 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512 / 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Early-stopping patience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Recorded loss weights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reconstruction 1000; adversarial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reconstruction 110; batch classifier 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Training environment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Python 3.8.20; TF 2.13.1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TFP 0.21.0; TFA 0.21.0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6F9FC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UMAP 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  <a:prstDash val="solid"/>
                    </a:lnL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Existing fold-1 train coordinates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E"/>
                          </a:solidFill>
                          <a:latin typeface="Aptos"/>
                          <a:ea typeface="Aptos"/>
                          <a:cs typeface="Aptos"/>
                        </a:rPr>
                        <a:t>Seed 5; 15 neighbours; same cells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  <a:prstDash val="solid"/>
                    </a:lnR>
                    <a:lnB w="9525">
                      <a:solidFill>
                        <a:srgbClr val="D5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54477-2F70-4A56-BBA0-3E5588E1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02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The run manifest does not record the training random seed.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93016-B480-4F1E-B58C-99113BE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Sources: reproducibility/run_manifest.json, environment/, and results/presentation/figure_manifest.json.</a:t>
            </a:r>
          </a:p>
        </p:txBody>
      </p:sp>
    </p:spTree>
    <p:extLst>
      <p:ext uri="{BB962C8B-B14F-4D97-AF65-F5344CB8AC3E}">
        <p14:creationId xmlns:p14="http://schemas.microsoft.com/office/powerpoint/2010/main" val="402034115"/>
      </p:ext>
    </p:extLst>
  </p:cSld>
</p:sld>
</file>

<file path=ppt/slides/slide2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CB8959-A330-4A1B-993E-B19F02CE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7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E2CE30B-24B0-4240-9D6A-3D434BA5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APPENDIX</a:t>
            </a:r>
            <a:endParaRPr sz="9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5ED9100-ABEF-4717-A302-D89C18B0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Disease analysis needs sample and covariate checks</a:t>
            </a:r>
            <a:endParaRPr sz="255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90FBCC0-5288-4D1C-9838-E445A5CE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9C7F00-A91D-4A8E-90B3-569B261E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BMI5101 Group 10  •  AML reproduction  •  Version 5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2AB4DB-DF02-447C-A0D5-566EA928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8793"/>
                </a:solidFill>
                <a:latin typeface="Aptos"/>
                <a:ea typeface="Aptos"/>
                <a:cs typeface="Aptos"/>
              </a:rPr>
              <a:t>25</a:t>
            </a:r>
            <a:endParaRPr sz="900" b="1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6EE054-D9F8-4B16-97A7-3A42E670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81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A37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A3767"/>
                </a:solidFill>
                <a:latin typeface="Aptos"/>
                <a:ea typeface="Aptos"/>
                <a:cs typeface="Aptos"/>
              </a:rPr>
              <a:t>Townsend et al. 2024</a:t>
            </a:r>
            <a:endParaRPr sz="2100" b="1">
              <a:solidFill>
                <a:srgbClr val="0A37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1D9E4F-B84D-4C1B-8352-6B95C32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244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RA synovium and UC colon: disease-specific scRNA-seq atlases plus GWAS summary statistics. [10]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8C5807C-2C97-424F-B047-FB1C055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9244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Harmony used sample as the batch variable. scDRS then allowed cell-level covariates in disease scoring. [10]</a:t>
            </a:r>
            <a:endParaRPr sz="165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F8BF2B2-CC26-4501-A0C7-899185C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14500"/>
            <a:ext cx="190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2270EED-253F-494E-8D3C-C3BA0112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D775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7752D"/>
                </a:solidFill>
                <a:latin typeface="Aptos"/>
                <a:ea typeface="Aptos"/>
                <a:cs typeface="Aptos"/>
              </a:rPr>
              <a:t>What this adds to our AML discussion</a:t>
            </a:r>
            <a:endParaRPr sz="2025" b="1">
              <a:solidFill>
                <a:srgbClr val="D7752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8FAC3D4-DAEE-4E1F-AADB-7A59B37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FDBADC-4306-4A2F-A22A-27066640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Donor and disease group may align; inspect both labels.</a:t>
            </a:r>
            <a:endParaRPr sz="15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275F2BD-7341-4540-9DE2-8E31A3DF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0D8E1A-B662-4E0A-8E75-D4368338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Check fine cell states and markers after integration.</a:t>
            </a:r>
            <a:endParaRPr sz="15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D66AF93-718D-4BDF-91B4-BDF8A4B3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4ADBCB1-1DD5-459F-A53D-FB9D0C59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72B3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E"/>
                </a:solidFill>
                <a:latin typeface="Aptos"/>
                <a:ea typeface="Aptos"/>
                <a:cs typeface="Aptos"/>
              </a:rPr>
              <a:t>Use patient-aware biology checks before interpretation.</a:t>
            </a:r>
            <a:endParaRPr sz="1500" b="0">
              <a:solidFill>
                <a:srgbClr val="172B3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A2D873E-5B7D-485C-B239-883ABA2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007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ctr">
              <a:defRPr sz="15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38B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8B91"/>
                </a:solidFill>
                <a:latin typeface="Aptos"/>
                <a:ea typeface="Aptos"/>
                <a:cs typeface="Aptos"/>
              </a:rPr>
              <a:t>GWAS-based scoring is a future extension requiring suitable genetic data.</a:t>
            </a:r>
            <a:endParaRPr sz="1500" b="1">
              <a:solidFill>
                <a:srgbClr val="138B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0A4AF6B-0EC6-4BEF-9A3A-A632E421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A879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A8793"/>
                </a:solidFill>
                <a:latin typeface="Aptos"/>
                <a:ea typeface="Aptos"/>
                <a:cs typeface="Aptos"/>
              </a:rPr>
              <a:t>[10] Townsend et al., Frontiers in Immunology 15:1454263 (2024), doi:10.3389/fimmu.2024.1454263.</a:t>
            </a:r>
            <a:endParaRPr sz="825" b="0">
              <a:solidFill>
                <a:srgbClr val="7A8793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52696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2026-10-12T08:39:12.7890000Z</dcterms:created>
  <dcterms:modified xsi:type="dcterms:W3CDTF">2026-10-12T08:39:12.7890000Z</dcterms:modified>
</coreProperties>
</file>